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</p:sldIdLst>
  <p:sldSz cx="12192000" cy="6858000"/>
  <p:notesSz cx="6858000" cy="9144000"/>
  <p:defaultTextStyle>
    <a:defPPr>
      <a:defRPr lang="en-U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21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7CB2-ED0F-D4BB-CE6D-A1A3B7A6D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9292B-6C34-4EAA-39A2-4C7EC879F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0F8BC-09A0-8F59-0434-6B97E1DEA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72D5C-A5D5-7089-52A9-3E68853D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DCB8-55C8-2FD5-EDC9-99B40B28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122320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EB89-FE67-533F-97F8-327DC391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C45F-5A99-96A1-BD04-9E594EFCE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D3583-3F13-7897-B587-88C5D558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357ED-7FC6-C350-D13C-FDCCACA4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0AC4D-3B8D-2126-73E7-BB14D3DA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550711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3FDE7-5B8F-AF5A-1389-03B00DDA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4E52A-B840-D0A4-5159-DA99084F4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2FF42-BB9C-7240-B8BA-684BC742E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7D331-FFE6-B09F-E85F-A1AC218C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41652-07F9-70FD-27A4-E55724B9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1725356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2238D-B2A3-6C1D-638B-D9854DE9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5799-4441-9FDF-AEEE-BB842EFC6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9F880-E9E1-6A56-4C9C-A4C2FFFEF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C3AC7-2750-B21F-D394-26675D3F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C3DDC-1B50-F23E-3907-AF0B98A8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710C4-0A1E-3E0F-9028-19898B18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3214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70D0-0D89-F5CD-6D48-6DF6D895E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5DAE8-73A1-32F5-1993-73F8A5AB9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C9B3D-2185-8AA6-01E6-04D1C1EBA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36A88-67AE-FC72-3457-EF7F8561A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249897-96B7-9F53-F873-1B2F80DC3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E65ADF-A376-939E-D6AC-3CBD94F17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7C292-373D-491E-C391-C8CA2B70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7633C8-A5D3-901F-0409-E3251847C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07130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397D-96A8-3731-2EB2-3B1E555C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99FC3-6D60-122F-FD67-1CD625EEA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860FD2-5531-41D9-D444-CCFC85A8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C8D4C-6AF8-4634-08E6-9A58EF29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80246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59BCE-FF31-9767-327D-B2AC6304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9A89C1-A966-E65C-DFB3-DF321C8D7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0A80D-22D9-5539-B4AD-D6DDEB0D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1110478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EDB44-D41D-B208-783A-ACE3A594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FF8C3-EBFC-692D-1BCE-C1578CC9F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565BB-FCF0-24DB-9E9B-64CFF64C9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22D9F-F9EC-0013-7427-CDDE7358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C2C59-F573-C701-399D-B5C01DA1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4C21D-1CAA-4BCD-340F-81800C66F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52688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F64-C6EF-4D0F-A760-6D286EE5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1E8FA-D9DE-42D8-7ABF-59C4725F8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044C2-3AFF-89C3-7A9C-CE2D75A52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7DCFC-A231-81AB-555D-A7C57473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C0A10-23D5-6AE1-5D6D-6BF3FFF0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34F2B-0139-FD17-0250-98AB20F6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46747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5C955-BFDF-CCC5-3039-88CEA47A5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F1E41-75F2-A86B-11A2-761D928E7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549-422D-0E75-607A-1BBFD204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157EB-8259-0C69-6607-892F61EC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1817A-C6A0-232F-9C5D-628729EA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31000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FBDA16-C490-4B29-6631-28394B74C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BD25A-538D-14D4-1D0B-55D7C3804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B7451-9195-CCA4-9063-302D1F1B0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90E13-8642-0B6A-A740-455B8695B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0657B-B600-83D6-5490-64710098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78607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55969-2EC9-7D7B-EB0D-7B7D0BF6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B9668-2876-33FE-ECFD-BA677DDA3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95BA7-B986-3430-366A-6C6669403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5C793-C4EC-447D-AEB0-5A03922D8A0A}" type="datetimeFigureOut">
              <a:rPr lang="en-UM" smtClean="0"/>
              <a:t>4/15/2026</a:t>
            </a:fld>
            <a:endParaRPr lang="en-U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32B6D-4354-4185-EC8F-D49F8E9AD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55468-C4E2-0CEE-E801-38CB64977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2CAE7-8303-455F-8FDA-3A78F7F6BB9B}" type="slidenum">
              <a:rPr lang="en-UM" smtClean="0"/>
              <a:t>‹#›</a:t>
            </a:fld>
            <a:endParaRPr lang="en-UM"/>
          </a:p>
        </p:txBody>
      </p:sp>
    </p:spTree>
    <p:extLst>
      <p:ext uri="{BB962C8B-B14F-4D97-AF65-F5344CB8AC3E}">
        <p14:creationId xmlns:p14="http://schemas.microsoft.com/office/powerpoint/2010/main" val="290899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53FD-36E2-9373-62A5-863341031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Poppins" panose="00000500000000000000" pitchFamily="2" charset="0"/>
              </a:rPr>
              <a:t>Document Processing with Docling</a:t>
            </a:r>
            <a:endParaRPr lang="en-UM" dirty="0">
              <a:cs typeface="Poppins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57DE8-8FAC-543C-5377-842D4B0BA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4153"/>
            <a:ext cx="9144000" cy="488181"/>
          </a:xfrm>
        </p:spPr>
        <p:txBody>
          <a:bodyPr>
            <a:noAutofit/>
          </a:bodyPr>
          <a:lstStyle/>
          <a:p>
            <a:r>
              <a:rPr lang="en-UM" sz="3200" dirty="0">
                <a:latin typeface="+mj-lt"/>
                <a:cs typeface="Poppins" panose="00000500000000000000" pitchFamily="2" charset="0"/>
              </a:rPr>
              <a:t>From Scanned Documents to AI-ready Data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 txBox="1">
            <a:spLocks/>
          </p:cNvSpPr>
          <p:nvPr/>
        </p:nvSpPr>
        <p:spPr>
          <a:xfrm>
            <a:off x="4411731" y="5106524"/>
            <a:ext cx="3470000" cy="73768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M" sz="2400" dirty="0">
                <a:ea typeface="Open sans" panose="020F0502020204030204" pitchFamily="34" charset="0"/>
                <a:cs typeface="Open sans" panose="020F0502020204030204" pitchFamily="34" charset="0"/>
              </a:rPr>
              <a:t>Outreachy contribution</a:t>
            </a:r>
          </a:p>
          <a:p>
            <a:pPr marL="0" indent="0" algn="ctr">
              <a:buNone/>
            </a:pPr>
            <a:r>
              <a:rPr lang="en-UM" sz="2000" dirty="0">
                <a:ea typeface="Open sans" panose="020F0502020204030204" pitchFamily="34" charset="0"/>
                <a:cs typeface="Open sans" panose="020F0502020204030204" pitchFamily="34" charset="0"/>
              </a:rPr>
              <a:t>Janine Robi Makorre</a:t>
            </a:r>
          </a:p>
          <a:p>
            <a:pPr marL="0" indent="0" algn="ctr">
              <a:buNone/>
            </a:pPr>
            <a:endParaRPr lang="en-UM" sz="1800" dirty="0">
              <a:ea typeface="Open sans" panose="020F0502020204030204" pitchFamily="34" charset="0"/>
              <a:cs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067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7766F-FD59-AEC4-33C1-6447CD175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50E3C-F04A-9CA1-8170-582F430101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dirty="0"/>
              <a:t>Working with scanned documents is difficult:</a:t>
            </a:r>
            <a:endParaRPr lang="en-UM" dirty="0"/>
          </a:p>
          <a:p>
            <a:r>
              <a:rPr lang="en-US" dirty="0"/>
              <a:t>Text is not structured  </a:t>
            </a:r>
            <a:endParaRPr lang="en-UM" dirty="0"/>
          </a:p>
          <a:p>
            <a:r>
              <a:rPr lang="en-US" dirty="0"/>
              <a:t>Content is not searchable  </a:t>
            </a:r>
            <a:endParaRPr lang="en-UM" dirty="0"/>
          </a:p>
          <a:p>
            <a:r>
              <a:rPr lang="en-US" dirty="0"/>
              <a:t>Not usable for AI systems 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3000" b="1" dirty="0"/>
              <a:t>Goal:</a:t>
            </a:r>
            <a:endParaRPr lang="en-UM" sz="3000" b="1" dirty="0"/>
          </a:p>
          <a:p>
            <a:r>
              <a:rPr lang="en-US" dirty="0"/>
              <a:t>Turn raw PDFs into structured, searchable, AI-ready data</a:t>
            </a:r>
            <a:endParaRPr lang="en-UM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3D9258-FBAA-EE3C-D966-120154A2AB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M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7E0AC91-CF68-DF8E-2DFD-454F4BC11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878" y="1710566"/>
            <a:ext cx="5257799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37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FEFAA-43B7-BCA8-DEF8-50CA70DE6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 (Pipeline)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BB062-57E8-68DE-02B0-E80379DC1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End-to-End Pipeline: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r>
              <a:rPr lang="en-GB" b="1" dirty="0"/>
              <a:t>PDF</a:t>
            </a:r>
            <a:r>
              <a:rPr lang="en-GB" dirty="0"/>
              <a:t> → </a:t>
            </a:r>
            <a:r>
              <a:rPr lang="en-GB" b="1" dirty="0"/>
              <a:t>OCR</a:t>
            </a:r>
            <a:r>
              <a:rPr lang="en-GB" dirty="0"/>
              <a:t> → </a:t>
            </a:r>
            <a:r>
              <a:rPr lang="en-GB" b="1" dirty="0"/>
              <a:t>Markdown</a:t>
            </a:r>
            <a:r>
              <a:rPr lang="en-GB" dirty="0"/>
              <a:t> → </a:t>
            </a:r>
            <a:r>
              <a:rPr lang="en-GB" b="1" dirty="0"/>
              <a:t>Analysis</a:t>
            </a:r>
            <a:r>
              <a:rPr lang="en-GB" dirty="0"/>
              <a:t> → </a:t>
            </a:r>
            <a:r>
              <a:rPr lang="en-GB" b="1" dirty="0" err="1"/>
              <a:t>RetrievalTools</a:t>
            </a:r>
            <a:r>
              <a:rPr lang="en-GB" dirty="0"/>
              <a:t> 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UM" b="1" dirty="0"/>
              <a:t>Tools u</a:t>
            </a:r>
            <a:r>
              <a:rPr lang="en-GB" b="1" dirty="0" err="1"/>
              <a:t>sed</a:t>
            </a:r>
            <a:r>
              <a:rPr lang="en-GB" b="1" dirty="0"/>
              <a:t>:</a:t>
            </a:r>
            <a:endParaRPr lang="en-UM" b="1" dirty="0"/>
          </a:p>
          <a:p>
            <a:r>
              <a:rPr lang="en-GB" dirty="0"/>
              <a:t>Docling</a:t>
            </a:r>
            <a:endParaRPr lang="en-UM" dirty="0"/>
          </a:p>
          <a:p>
            <a:r>
              <a:rPr lang="en-GB" dirty="0"/>
              <a:t>Tesseract</a:t>
            </a:r>
            <a:endParaRPr lang="en-UM" dirty="0"/>
          </a:p>
          <a:p>
            <a:r>
              <a:rPr lang="en-GB" dirty="0"/>
              <a:t>EasyOCR</a:t>
            </a:r>
            <a:endParaRPr lang="en-UM" dirty="0"/>
          </a:p>
          <a:p>
            <a:r>
              <a:rPr lang="en-GB" dirty="0" err="1"/>
              <a:t>RapidOCR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597829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B6AC-ADD1-69B1-D6C7-7438066C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902F-76C5-2176-50A0-BBBDEFD5E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These OCR Engines?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4BAD1-9919-798D-6BE3-FAACFF9B8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Three OCR engines were selected to represent different approaches:</a:t>
            </a:r>
            <a:endParaRPr lang="en-UM" dirty="0"/>
          </a:p>
          <a:p>
            <a:pPr marL="514350" indent="-514350">
              <a:buAutoNum type="arabicPeriod"/>
            </a:pPr>
            <a:r>
              <a:rPr lang="en-GB" b="1" dirty="0"/>
              <a:t>Tesseract</a:t>
            </a:r>
            <a:r>
              <a:rPr lang="en-GB" dirty="0"/>
              <a:t>→ reliable, strong structure preservation</a:t>
            </a:r>
            <a:endParaRPr lang="en-UM" dirty="0"/>
          </a:p>
          <a:p>
            <a:pPr marL="514350" indent="-514350">
              <a:buAutoNum type="arabicPeriod"/>
            </a:pPr>
            <a:r>
              <a:rPr lang="en-GB" b="1" dirty="0"/>
              <a:t>EasyOCR</a:t>
            </a:r>
            <a:r>
              <a:rPr lang="en-GB" dirty="0"/>
              <a:t>→ deep learning-based, flexible</a:t>
            </a:r>
            <a:r>
              <a:rPr lang="en-UM" dirty="0"/>
              <a:t>,</a:t>
            </a:r>
            <a:r>
              <a:rPr lang="en-GB" dirty="0"/>
              <a:t> and multilingual</a:t>
            </a:r>
            <a:endParaRPr lang="en-UM" dirty="0"/>
          </a:p>
          <a:p>
            <a:pPr marL="514350" indent="-514350">
              <a:buAutoNum type="arabicPeriod"/>
            </a:pPr>
            <a:r>
              <a:rPr lang="en-GB" b="1" dirty="0" err="1"/>
              <a:t>RapidOCR</a:t>
            </a:r>
            <a:r>
              <a:rPr lang="en-GB" dirty="0"/>
              <a:t>→ fast, lightweight, efficient pipeline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GB" b="1" dirty="0"/>
              <a:t>Each offers a different balance of:</a:t>
            </a:r>
            <a:endParaRPr lang="en-UM" b="1" dirty="0"/>
          </a:p>
          <a:p>
            <a:r>
              <a:rPr lang="en-GB" dirty="0"/>
              <a:t>Speed</a:t>
            </a:r>
            <a:endParaRPr lang="en-UM" dirty="0"/>
          </a:p>
          <a:p>
            <a:r>
              <a:rPr lang="en-GB" dirty="0"/>
              <a:t>Accuracy</a:t>
            </a:r>
            <a:endParaRPr lang="en-UM" dirty="0"/>
          </a:p>
          <a:p>
            <a:r>
              <a:rPr lang="en-GB" dirty="0"/>
              <a:t>formatting consistency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176568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DB86-BED8-3724-32B5-FB4F2BC4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 Criteria</a:t>
            </a:r>
            <a:r>
              <a:rPr lang="en-UM" dirty="0"/>
              <a:t> (Key Metrics)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D7C6D-9326-8C8D-1AA7-7B89D6329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comparison focused on:</a:t>
            </a:r>
            <a:endParaRPr lang="en-UM" b="1" dirty="0"/>
          </a:p>
          <a:p>
            <a:r>
              <a:rPr lang="en-US" dirty="0"/>
              <a:t>extraction accuracy</a:t>
            </a:r>
            <a:endParaRPr lang="en-UM" dirty="0"/>
          </a:p>
          <a:p>
            <a:r>
              <a:rPr lang="en-US" dirty="0"/>
              <a:t>structure preservation </a:t>
            </a:r>
            <a:endParaRPr lang="en-UM" dirty="0"/>
          </a:p>
          <a:p>
            <a:r>
              <a:rPr lang="en-US" dirty="0"/>
              <a:t>noise levels </a:t>
            </a:r>
            <a:endParaRPr lang="en-UM" dirty="0"/>
          </a:p>
          <a:p>
            <a:r>
              <a:rPr lang="en-US" dirty="0"/>
              <a:t>suitability for downstream tasks  </a:t>
            </a:r>
            <a:endParaRPr lang="en-UM" dirty="0"/>
          </a:p>
          <a:p>
            <a:endParaRPr lang="en-UM" dirty="0"/>
          </a:p>
          <a:p>
            <a:pPr marL="0" indent="0">
              <a:buNone/>
            </a:pPr>
            <a:r>
              <a:rPr lang="en-US" b="1" dirty="0"/>
              <a:t>Goal:</a:t>
            </a:r>
            <a:endParaRPr lang="en-UM" b="1" dirty="0"/>
          </a:p>
          <a:p>
            <a:pPr marL="0" indent="0">
              <a:buNone/>
            </a:pPr>
            <a:r>
              <a:rPr lang="en-US" dirty="0"/>
              <a:t>Identify which OCR output is most useful for AI workflows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3719369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FB24-64FA-36E8-EC2F-DC4D27F0A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OCR Comparison (Core Insight)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DED3F-A1AB-11D1-295B-3A56728D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Key Observations:</a:t>
            </a:r>
            <a:endParaRPr lang="en-UM" b="1" dirty="0"/>
          </a:p>
          <a:p>
            <a:r>
              <a:rPr lang="en-US" dirty="0"/>
              <a:t>Tesseract→ best </a:t>
            </a:r>
            <a:r>
              <a:rPr lang="en-US" b="1" dirty="0"/>
              <a:t>structural consistency</a:t>
            </a:r>
            <a:endParaRPr lang="en-UM" b="1" dirty="0"/>
          </a:p>
          <a:p>
            <a:r>
              <a:rPr lang="en-US" dirty="0"/>
              <a:t>EasyOCR→ </a:t>
            </a:r>
            <a:r>
              <a:rPr lang="en-US" b="1" dirty="0"/>
              <a:t>flexible</a:t>
            </a:r>
            <a:r>
              <a:rPr lang="en-US" dirty="0"/>
              <a:t> but introduces </a:t>
            </a:r>
            <a:r>
              <a:rPr lang="en-US" b="1" dirty="0"/>
              <a:t>more noise</a:t>
            </a:r>
            <a:endParaRPr lang="en-UM" b="1" dirty="0"/>
          </a:p>
          <a:p>
            <a:r>
              <a:rPr lang="en-US" dirty="0" err="1"/>
              <a:t>RapidOCR</a:t>
            </a:r>
            <a:r>
              <a:rPr lang="en-US" dirty="0"/>
              <a:t>→ best balance between </a:t>
            </a:r>
            <a:r>
              <a:rPr lang="en-US" b="1" dirty="0"/>
              <a:t>speed</a:t>
            </a:r>
            <a:r>
              <a:rPr lang="en-US" dirty="0"/>
              <a:t> and </a:t>
            </a:r>
            <a:r>
              <a:rPr lang="en-US" b="1" dirty="0"/>
              <a:t>quality</a:t>
            </a:r>
            <a:endParaRPr lang="en-UM" b="1" dirty="0"/>
          </a:p>
          <a:p>
            <a:endParaRPr lang="en-UM" dirty="0"/>
          </a:p>
          <a:p>
            <a:pPr marL="0" indent="0">
              <a:buNone/>
            </a:pPr>
            <a:r>
              <a:rPr lang="en-US" b="1" dirty="0"/>
              <a:t>Insight:</a:t>
            </a:r>
            <a:endParaRPr lang="en-UM" b="1" dirty="0"/>
          </a:p>
          <a:p>
            <a:r>
              <a:rPr lang="en-US" dirty="0"/>
              <a:t>No single OCR engine is perfect —  the best choice depends on the use case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219326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C471-B8FF-EB54-EC91-633AAF0E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OCR Output Size Comparison</a:t>
            </a:r>
            <a:endParaRPr lang="en-UM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F7AEB4C-A6ED-88F1-7AE4-F9EAA8BCE2C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35BB3-3AF4-13EF-A47E-85C080D4E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76059"/>
            <a:ext cx="3932237" cy="3811588"/>
          </a:xfrm>
        </p:spPr>
        <p:txBody>
          <a:bodyPr>
            <a:normAutofit/>
          </a:bodyPr>
          <a:lstStyle/>
          <a:p>
            <a:r>
              <a:rPr lang="en-US" sz="2000" dirty="0"/>
              <a:t>Both documents contain a similar number of words after OCR processing.</a:t>
            </a:r>
            <a:endParaRPr lang="en-UM" sz="2000" dirty="0"/>
          </a:p>
          <a:p>
            <a:r>
              <a:rPr lang="en-US" sz="2000" dirty="0"/>
              <a:t>This shows that all engines are able to extract comparable amounts of text.</a:t>
            </a:r>
            <a:endParaRPr lang="en-UM" sz="2000" dirty="0"/>
          </a:p>
          <a:p>
            <a:r>
              <a:rPr lang="en-US" sz="2000" dirty="0"/>
              <a:t>However, quantity alone does not reflect quality — structure and noise must also be considered.</a:t>
            </a:r>
            <a:endParaRPr lang="en-UM" sz="2000" dirty="0"/>
          </a:p>
        </p:txBody>
      </p:sp>
    </p:spTree>
    <p:extLst>
      <p:ext uri="{BB962C8B-B14F-4D97-AF65-F5344CB8AC3E}">
        <p14:creationId xmlns:p14="http://schemas.microsoft.com/office/powerpoint/2010/main" val="214913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F257-9B2F-0D5D-899E-CC5B41FF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Swahili Document Structure</a:t>
            </a:r>
            <a:endParaRPr lang="en-UM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ABF2313-EBE2-A700-847C-27D897C632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143BD-E8DA-F971-DF43-F0AB68071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96546"/>
            <a:ext cx="3932237" cy="3811588"/>
          </a:xfrm>
        </p:spPr>
        <p:txBody>
          <a:bodyPr>
            <a:normAutofit/>
          </a:bodyPr>
          <a:lstStyle/>
          <a:p>
            <a:r>
              <a:rPr lang="en-US" sz="2000" dirty="0"/>
              <a:t>The Swahili document contains mostly short lines.</a:t>
            </a:r>
            <a:endParaRPr lang="en-UM" sz="2000" dirty="0"/>
          </a:p>
          <a:p>
            <a:r>
              <a:rPr lang="en-US" sz="2000" dirty="0"/>
              <a:t>This reflects its structured format (phrases and lists).</a:t>
            </a:r>
            <a:endParaRPr lang="en-UM" sz="2000" dirty="0"/>
          </a:p>
          <a:p>
            <a:r>
              <a:rPr lang="en-US" sz="2000" dirty="0"/>
              <a:t>OCR preserves this structure, but may introduce noise in segmented content.</a:t>
            </a:r>
            <a:endParaRPr lang="en-UM" sz="2000" dirty="0"/>
          </a:p>
        </p:txBody>
      </p:sp>
    </p:spTree>
    <p:extLst>
      <p:ext uri="{BB962C8B-B14F-4D97-AF65-F5344CB8AC3E}">
        <p14:creationId xmlns:p14="http://schemas.microsoft.com/office/powerpoint/2010/main" val="19275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2B900-66F0-4278-CD04-1D129C11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French Document Structure</a:t>
            </a:r>
            <a:endParaRPr lang="en-UM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7CDAAE4-D658-BFEF-763B-F655938D997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756FA-8A79-0AD3-9190-3DF19492C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French document shows longer and more varied line lengths.</a:t>
            </a:r>
            <a:endParaRPr lang="en-UM" sz="2000" dirty="0"/>
          </a:p>
          <a:p>
            <a:r>
              <a:rPr lang="en-US" sz="2000" dirty="0"/>
              <a:t>This reflects paragraph-style text with continuous sentences.</a:t>
            </a:r>
            <a:endParaRPr lang="en-UM" sz="2000" dirty="0"/>
          </a:p>
          <a:p>
            <a:r>
              <a:rPr lang="en-US" sz="2000" dirty="0"/>
              <a:t>OCR handles this format more smoothly, resulting in more consistent output</a:t>
            </a:r>
            <a:r>
              <a:rPr lang="en-US" sz="2400" dirty="0"/>
              <a:t>.</a:t>
            </a:r>
            <a:endParaRPr lang="en-UM" sz="2400" dirty="0"/>
          </a:p>
        </p:txBody>
      </p:sp>
    </p:spTree>
    <p:extLst>
      <p:ext uri="{BB962C8B-B14F-4D97-AF65-F5344CB8AC3E}">
        <p14:creationId xmlns:p14="http://schemas.microsoft.com/office/powerpoint/2010/main" val="3123999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0E863-6C31-7CBC-98D0-1B712984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Semantic Retrieval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0B296-2D6D-E769-EA7F-1163E117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From OCR to AI</a:t>
            </a:r>
            <a:endParaRPr lang="en-UM" b="1" dirty="0"/>
          </a:p>
          <a:p>
            <a:pPr marL="0" indent="0">
              <a:buNone/>
            </a:pPr>
            <a:r>
              <a:rPr lang="en-GB" dirty="0"/>
              <a:t>OCR outputs were converted into </a:t>
            </a:r>
            <a:r>
              <a:rPr lang="en-UM" dirty="0"/>
              <a:t>embeddings to</a:t>
            </a:r>
            <a:r>
              <a:rPr lang="en-GB" dirty="0"/>
              <a:t> enable meaning-based search.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GB" b="1" dirty="0"/>
              <a:t>Process:</a:t>
            </a:r>
            <a:endParaRPr lang="en-UM" b="1" dirty="0"/>
          </a:p>
          <a:p>
            <a:r>
              <a:rPr lang="en-GB" dirty="0"/>
              <a:t>clean text </a:t>
            </a:r>
            <a:endParaRPr lang="en-UM" dirty="0"/>
          </a:p>
          <a:p>
            <a:r>
              <a:rPr lang="en-GB" dirty="0"/>
              <a:t>split into chunks  </a:t>
            </a:r>
            <a:endParaRPr lang="en-UM" dirty="0"/>
          </a:p>
          <a:p>
            <a:r>
              <a:rPr lang="en-GB" dirty="0"/>
              <a:t>generate embeddings </a:t>
            </a:r>
            <a:endParaRPr lang="en-UM" dirty="0"/>
          </a:p>
          <a:p>
            <a:r>
              <a:rPr lang="en-GB" dirty="0"/>
              <a:t>retrieve relevant content  </a:t>
            </a:r>
            <a:endParaRPr lang="en-UM" dirty="0"/>
          </a:p>
          <a:p>
            <a:endParaRPr lang="en-UM" dirty="0"/>
          </a:p>
          <a:p>
            <a:pPr marL="0" indent="0">
              <a:buNone/>
            </a:pPr>
            <a:r>
              <a:rPr lang="en-GB" b="1" dirty="0"/>
              <a:t>This enables:</a:t>
            </a:r>
            <a:endParaRPr lang="en-UM" b="1" dirty="0"/>
          </a:p>
          <a:p>
            <a:r>
              <a:rPr lang="en-GB" dirty="0"/>
              <a:t>semantic search </a:t>
            </a:r>
            <a:endParaRPr lang="en-UM" dirty="0"/>
          </a:p>
          <a:p>
            <a:r>
              <a:rPr lang="en-GB" dirty="0"/>
              <a:t>RAG-style workflows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557060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D0E0-4C30-6F70-0721-1EBB2BBA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Query: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5F524-68C5-FAB1-2556-A8A306F84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M" b="1" dirty="0"/>
              <a:t>Query: </a:t>
            </a:r>
            <a:r>
              <a:rPr lang="en-US" dirty="0"/>
              <a:t>“How do I greet someone in Swahili?”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Retrieved Output:</a:t>
            </a:r>
            <a:endParaRPr lang="en-UM" b="1" dirty="0"/>
          </a:p>
          <a:p>
            <a:r>
              <a:rPr lang="en-US" dirty="0"/>
              <a:t>“Habari” (Hello) </a:t>
            </a:r>
            <a:endParaRPr lang="en-UM" dirty="0"/>
          </a:p>
          <a:p>
            <a:r>
              <a:rPr lang="en-US" dirty="0"/>
              <a:t>“</a:t>
            </a:r>
            <a:r>
              <a:rPr lang="en-US" dirty="0" err="1"/>
              <a:t>Shikamoo</a:t>
            </a:r>
            <a:r>
              <a:rPr lang="en-US" dirty="0"/>
              <a:t>” (Respectful greeting)</a:t>
            </a:r>
            <a:br>
              <a:rPr lang="en-US" dirty="0"/>
            </a:br>
            <a:endParaRPr lang="en-UM" b="1" dirty="0"/>
          </a:p>
          <a:p>
            <a:pPr marL="0" indent="0">
              <a:buNone/>
            </a:pPr>
            <a:r>
              <a:rPr lang="en-US" b="1" dirty="0"/>
              <a:t>Insight:</a:t>
            </a:r>
            <a:endParaRPr lang="en-UM" b="1" dirty="0"/>
          </a:p>
          <a:p>
            <a:r>
              <a:rPr lang="en-US" dirty="0"/>
              <a:t>The system retrieves meaning, not just keywords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3235159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F92D-979B-3E9A-690D-ECCDD115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Challenges &amp; Debugging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9AF0A-0D66-D7BB-E58E-8F28B85AE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Key Challenges:</a:t>
            </a:r>
            <a:endParaRPr lang="en-UM" b="1" dirty="0"/>
          </a:p>
          <a:p>
            <a:r>
              <a:rPr lang="en-GB" dirty="0"/>
              <a:t>Windows permissions (</a:t>
            </a:r>
            <a:r>
              <a:rPr lang="en-GB" dirty="0" err="1"/>
              <a:t>symlink</a:t>
            </a:r>
            <a:r>
              <a:rPr lang="en-GB" dirty="0"/>
              <a:t> errors)</a:t>
            </a:r>
            <a:endParaRPr lang="en-UM" dirty="0"/>
          </a:p>
          <a:p>
            <a:r>
              <a:rPr lang="en-GB" dirty="0"/>
              <a:t>Python environment conflicts</a:t>
            </a:r>
            <a:endParaRPr lang="en-UM" dirty="0"/>
          </a:p>
          <a:p>
            <a:r>
              <a:rPr lang="en-GB" dirty="0"/>
              <a:t>OCR model setup delays  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GB" b="1" dirty="0"/>
              <a:t>Resolution:</a:t>
            </a:r>
            <a:endParaRPr lang="en-UM" b="1" dirty="0"/>
          </a:p>
          <a:p>
            <a:r>
              <a:rPr lang="en-GB" dirty="0"/>
              <a:t>standardized environment </a:t>
            </a:r>
            <a:endParaRPr lang="en-UM" dirty="0"/>
          </a:p>
          <a:p>
            <a:r>
              <a:rPr lang="en-GB" dirty="0"/>
              <a:t>enabled developer mode </a:t>
            </a:r>
            <a:endParaRPr lang="en-UM" dirty="0"/>
          </a:p>
          <a:p>
            <a:r>
              <a:rPr lang="en-GB" dirty="0"/>
              <a:t>ensured consistent setup  </a:t>
            </a:r>
            <a:endParaRPr lang="en-UM" dirty="0"/>
          </a:p>
          <a:p>
            <a:endParaRPr lang="en-UM" dirty="0"/>
          </a:p>
          <a:p>
            <a:pPr marL="0" indent="0">
              <a:buNone/>
            </a:pPr>
            <a:r>
              <a:rPr lang="en-GB" b="1" dirty="0"/>
              <a:t>Insight:</a:t>
            </a:r>
            <a:endParaRPr lang="en-UM" b="1" dirty="0"/>
          </a:p>
          <a:p>
            <a:pPr marL="0" indent="0">
              <a:buNone/>
            </a:pPr>
            <a:r>
              <a:rPr lang="en-GB" dirty="0"/>
              <a:t>Environment setup is critical for reliable pipelines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2863638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4940-F2C6-4A81-4E73-5E77EDA8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Applications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BA156-4D83-8A49-C3D8-913C6278C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This pipeline can be applied to:</a:t>
            </a:r>
            <a:endParaRPr lang="en-UM" b="1" dirty="0"/>
          </a:p>
          <a:p>
            <a:r>
              <a:rPr lang="en-US" dirty="0"/>
              <a:t>digitizing scanned records </a:t>
            </a:r>
            <a:endParaRPr lang="en-UM" dirty="0"/>
          </a:p>
          <a:p>
            <a:r>
              <a:rPr lang="en-US" dirty="0"/>
              <a:t>making documents searchable </a:t>
            </a:r>
            <a:endParaRPr lang="en-UM" dirty="0"/>
          </a:p>
          <a:p>
            <a:r>
              <a:rPr lang="en-US" dirty="0"/>
              <a:t>enabling AI systems to query unstructured data  </a:t>
            </a:r>
            <a:endParaRPr lang="en-UM" dirty="0"/>
          </a:p>
          <a:p>
            <a:endParaRPr lang="en-UM" dirty="0"/>
          </a:p>
          <a:p>
            <a:pPr marL="0" indent="0">
              <a:buNone/>
            </a:pPr>
            <a:r>
              <a:rPr lang="en-US" b="1" dirty="0"/>
              <a:t>OCR is not the end</a:t>
            </a:r>
            <a:endParaRPr lang="en-UM" b="1" dirty="0"/>
          </a:p>
          <a:p>
            <a:r>
              <a:rPr lang="en-US" dirty="0"/>
              <a:t>it is the </a:t>
            </a:r>
            <a:r>
              <a:rPr lang="en-US" b="1" i="1" dirty="0"/>
              <a:t>foundation</a:t>
            </a:r>
            <a:r>
              <a:rPr lang="en-US" dirty="0"/>
              <a:t> for AI workflows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456403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A63E-9440-FB4A-BA3E-CF2C0D2B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Findings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93FE-5C78-44CE-D5B4-B60E0F3F1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M" b="1" dirty="0"/>
              <a:t>Some </a:t>
            </a:r>
            <a:r>
              <a:rPr lang="en-GB" b="1" dirty="0"/>
              <a:t>Key Findings</a:t>
            </a:r>
            <a:r>
              <a:rPr lang="en-UM" b="1" dirty="0"/>
              <a:t>:</a:t>
            </a:r>
          </a:p>
          <a:p>
            <a:r>
              <a:rPr lang="en-GB" dirty="0"/>
              <a:t>All OCR engines produced usable outputs  </a:t>
            </a:r>
            <a:endParaRPr lang="en-UM" dirty="0"/>
          </a:p>
          <a:p>
            <a:r>
              <a:rPr lang="en-GB" dirty="0"/>
              <a:t>Tesseract → most stable structure  </a:t>
            </a:r>
            <a:endParaRPr lang="en-UM" dirty="0"/>
          </a:p>
          <a:p>
            <a:r>
              <a:rPr lang="en-GB" dirty="0"/>
              <a:t>EasyOCR → flexible but noisier  </a:t>
            </a:r>
            <a:endParaRPr lang="en-UM" dirty="0"/>
          </a:p>
          <a:p>
            <a:r>
              <a:rPr lang="en-GB" dirty="0" err="1"/>
              <a:t>RapidOCR</a:t>
            </a:r>
            <a:r>
              <a:rPr lang="en-GB" dirty="0"/>
              <a:t> → best speed-quality balance  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GB" b="1" dirty="0"/>
              <a:t>Most importantly:</a:t>
            </a:r>
            <a:endParaRPr lang="en-UM" b="1" dirty="0"/>
          </a:p>
          <a:p>
            <a:r>
              <a:rPr lang="en-GB" dirty="0"/>
              <a:t>OCR quality directly impacts downstream AI performance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528942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5D16-117D-5F1D-9F48-35C342088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&amp; Future Work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9796-A79D-7FF1-1410-A653DE570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Limitations</a:t>
            </a:r>
            <a:endParaRPr lang="en-UM" b="1" dirty="0"/>
          </a:p>
          <a:p>
            <a:r>
              <a:rPr lang="en-US" dirty="0"/>
              <a:t>OCR struggles with complex layouts  </a:t>
            </a:r>
            <a:endParaRPr lang="en-UM" dirty="0"/>
          </a:p>
          <a:p>
            <a:r>
              <a:rPr lang="en-US" dirty="0"/>
              <a:t>Output still requires cleaning </a:t>
            </a:r>
            <a:endParaRPr lang="en-UM" dirty="0"/>
          </a:p>
          <a:p>
            <a:r>
              <a:rPr lang="en-US" dirty="0"/>
              <a:t>Retrieval quality depends on OCR quality  </a:t>
            </a:r>
            <a:endParaRPr lang="en-UM" dirty="0"/>
          </a:p>
          <a:p>
            <a:endParaRPr lang="en-UM" dirty="0"/>
          </a:p>
          <a:p>
            <a:pPr marL="0" indent="0">
              <a:buNone/>
            </a:pPr>
            <a:r>
              <a:rPr lang="en-US" b="1" dirty="0"/>
              <a:t>Future Improvements</a:t>
            </a:r>
            <a:endParaRPr lang="en-UM" b="1" dirty="0"/>
          </a:p>
          <a:p>
            <a:r>
              <a:rPr lang="en-US" dirty="0"/>
              <a:t>better preprocessing </a:t>
            </a:r>
            <a:endParaRPr lang="en-UM" dirty="0"/>
          </a:p>
          <a:p>
            <a:r>
              <a:rPr lang="en-US" dirty="0"/>
              <a:t>layout-aware OCR </a:t>
            </a:r>
            <a:endParaRPr lang="en-UM" dirty="0"/>
          </a:p>
          <a:p>
            <a:r>
              <a:rPr lang="en-US" dirty="0"/>
              <a:t>improved chunking strategies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2986547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8848-BF79-D99E-6E53-775D2C81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Closing</a:t>
            </a:r>
            <a:endParaRPr lang="en-U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B2FB-E2AA-E0A5-36B8-CEDB63A8A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From raw documents → structured knowledge</a:t>
            </a:r>
            <a:endParaRPr lang="en-UM" dirty="0"/>
          </a:p>
          <a:p>
            <a:pPr marL="0" indent="0">
              <a:buNone/>
            </a:pPr>
            <a:endParaRPr lang="en-UM" dirty="0"/>
          </a:p>
          <a:p>
            <a:pPr marL="0" indent="0">
              <a:buNone/>
            </a:pPr>
            <a:r>
              <a:rPr lang="en-US" b="1" dirty="0"/>
              <a:t>This project demonstrates:</a:t>
            </a:r>
            <a:endParaRPr lang="en-UM" b="1" dirty="0"/>
          </a:p>
          <a:p>
            <a:r>
              <a:rPr lang="en-US" dirty="0"/>
              <a:t>OCR enables transformation  </a:t>
            </a:r>
            <a:endParaRPr lang="en-UM" dirty="0"/>
          </a:p>
          <a:p>
            <a:r>
              <a:rPr lang="en-US" dirty="0"/>
              <a:t>Structured data enables understanding  </a:t>
            </a:r>
            <a:endParaRPr lang="en-UM" dirty="0"/>
          </a:p>
          <a:p>
            <a:r>
              <a:rPr lang="en-US" dirty="0"/>
              <a:t>Understanding enables AI</a:t>
            </a:r>
            <a:endParaRPr lang="en-UM" dirty="0"/>
          </a:p>
        </p:txBody>
      </p:sp>
    </p:spTree>
    <p:extLst>
      <p:ext uri="{BB962C8B-B14F-4D97-AF65-F5344CB8AC3E}">
        <p14:creationId xmlns:p14="http://schemas.microsoft.com/office/powerpoint/2010/main" val="1220572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7C037-35F5-491A-7765-216DEFD7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77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M" sz="6600" dirty="0"/>
              <a:t>Thank you!!!!</a:t>
            </a:r>
          </a:p>
        </p:txBody>
      </p:sp>
    </p:spTree>
    <p:extLst>
      <p:ext uri="{BB962C8B-B14F-4D97-AF65-F5344CB8AC3E}">
        <p14:creationId xmlns:p14="http://schemas.microsoft.com/office/powerpoint/2010/main" val="133259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560</Words>
  <Application>Microsoft Office PowerPoint</Application>
  <PresentationFormat>Widescreen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Open sans</vt:lpstr>
      <vt:lpstr>Poppins</vt:lpstr>
      <vt:lpstr>Office Theme</vt:lpstr>
      <vt:lpstr>Document Processing with Docling</vt:lpstr>
      <vt:lpstr>The Problem</vt:lpstr>
      <vt:lpstr>Approach (Pipeline)</vt:lpstr>
      <vt:lpstr>Why These OCR Engines?</vt:lpstr>
      <vt:lpstr>Evaluation Criteria (Key Metrics)</vt:lpstr>
      <vt:lpstr>OCR Comparison (Core Insight)</vt:lpstr>
      <vt:lpstr>OCR Output Size Comparison</vt:lpstr>
      <vt:lpstr>Swahili Document Structure</vt:lpstr>
      <vt:lpstr>French Document Structure</vt:lpstr>
      <vt:lpstr>Semantic Retrieval</vt:lpstr>
      <vt:lpstr>Example Query:</vt:lpstr>
      <vt:lpstr>Challenges &amp; Debugging</vt:lpstr>
      <vt:lpstr>Real-World Applications</vt:lpstr>
      <vt:lpstr>Key Findings</vt:lpstr>
      <vt:lpstr>Limitations &amp; Future Work</vt:lpstr>
      <vt:lpstr>Closing</vt:lpstr>
      <vt:lpstr>Thank you!!!!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Janine Makorre</dc:creator>
  <cp:lastModifiedBy>Janine Makorre</cp:lastModifiedBy>
  <cp:revision>1</cp:revision>
  <dcterms:created xsi:type="dcterms:W3CDTF">2026-04-15T08:37:41Z</dcterms:created>
  <dcterms:modified xsi:type="dcterms:W3CDTF">2026-04-15T10:01:30Z</dcterms:modified>
</cp:coreProperties>
</file>